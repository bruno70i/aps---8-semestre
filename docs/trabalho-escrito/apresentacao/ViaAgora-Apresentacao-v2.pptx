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adeea9b674ad2" /><Relationship Type="http://schemas.openxmlformats.org/officeDocument/2006/relationships/extended-properties" Target="/docProps/app.xml" Id="Raf333fe8f91e4533" /><Relationship Type="http://schemas.openxmlformats.org/officeDocument/2006/relationships/officeDocument" Target="/ppt/presentation.xml" Id="R4cea166f8429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bbb0399b64195"/>
  </p:sldMasterIdLst>
  <p:notesMasterIdLst>
    <p:notesMasterId xmlns:r="http://schemas.openxmlformats.org/officeDocument/2006/relationships" r:id="Rda7c6ca841734872"/>
  </p:notesMasterIdLst>
  <p:sldIdLst>
    <p:sldId xmlns:r="http://schemas.openxmlformats.org/officeDocument/2006/relationships" id="256" r:id="R875d9b7199be47dc"/>
    <p:sldId xmlns:r="http://schemas.openxmlformats.org/officeDocument/2006/relationships" id="257" r:id="Rf091b6dc13904e0b"/>
    <p:sldId xmlns:r="http://schemas.openxmlformats.org/officeDocument/2006/relationships" id="258" r:id="Rdaa3fe007f544aba"/>
    <p:sldId xmlns:r="http://schemas.openxmlformats.org/officeDocument/2006/relationships" id="259" r:id="R26d28b74978d498e"/>
    <p:sldId xmlns:r="http://schemas.openxmlformats.org/officeDocument/2006/relationships" id="260" r:id="Re2ecbbca944a4d0d"/>
    <p:sldId xmlns:r="http://schemas.openxmlformats.org/officeDocument/2006/relationships" id="261" r:id="R5727583ee2b241b0"/>
    <p:sldId xmlns:r="http://schemas.openxmlformats.org/officeDocument/2006/relationships" id="262" r:id="Ref688aafa80a4b84"/>
    <p:sldId xmlns:r="http://schemas.openxmlformats.org/officeDocument/2006/relationships" id="263" r:id="Rfeecaca8524a4b4e"/>
    <p:sldId xmlns:r="http://schemas.openxmlformats.org/officeDocument/2006/relationships" id="264" r:id="R2237894dab78485e"/>
    <p:sldId xmlns:r="http://schemas.openxmlformats.org/officeDocument/2006/relationships" id="265" r:id="R34089d3376b1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45d4a86d0410f" /><Relationship Type="http://schemas.openxmlformats.org/officeDocument/2006/relationships/slideMaster" Target="/ppt/slideMasters/slideMaster1.xml" Id="Rb34bbb0399b64195" /><Relationship Type="http://schemas.openxmlformats.org/officeDocument/2006/relationships/notesMaster" Target="/ppt/notesMasters/notesMaster1.xml" Id="Rda7c6ca841734872" /><Relationship Type="http://schemas.openxmlformats.org/officeDocument/2006/relationships/presProps" Target="/ppt/presProps.xml" Id="Ra432a820ab164611" /><Relationship Type="http://schemas.openxmlformats.org/officeDocument/2006/relationships/tableStyles" Target="/ppt/tableStyles.xml" Id="R06d90423b3224b13" /><Relationship Type="http://schemas.openxmlformats.org/officeDocument/2006/relationships/slide" Target="/ppt/slides/slide1.xml" Id="R875d9b7199be47dc" /><Relationship Type="http://schemas.openxmlformats.org/officeDocument/2006/relationships/slide" Target="/ppt/slides/slide2.xml" Id="Rf091b6dc13904e0b" /><Relationship Type="http://schemas.openxmlformats.org/officeDocument/2006/relationships/slide" Target="/ppt/slides/slide3.xml" Id="Rdaa3fe007f544aba" /><Relationship Type="http://schemas.openxmlformats.org/officeDocument/2006/relationships/slide" Target="/ppt/slides/slide4.xml" Id="R26d28b74978d498e" /><Relationship Type="http://schemas.openxmlformats.org/officeDocument/2006/relationships/slide" Target="/ppt/slides/slide5.xml" Id="Re2ecbbca944a4d0d" /><Relationship Type="http://schemas.openxmlformats.org/officeDocument/2006/relationships/slide" Target="/ppt/slides/slide6.xml" Id="R5727583ee2b241b0" /><Relationship Type="http://schemas.openxmlformats.org/officeDocument/2006/relationships/slide" Target="/ppt/slides/slide7.xml" Id="Ref688aafa80a4b84" /><Relationship Type="http://schemas.openxmlformats.org/officeDocument/2006/relationships/slide" Target="/ppt/slides/slide8.xml" Id="Rfeecaca8524a4b4e" /><Relationship Type="http://schemas.openxmlformats.org/officeDocument/2006/relationships/slide" Target="/ppt/slides/slide9.xml" Id="R2237894dab78485e" /><Relationship Type="http://schemas.openxmlformats.org/officeDocument/2006/relationships/slide" Target="/ppt/slides/slide10.xml" Id="R34089d3376b1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38e892ed93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9139d02a64377" /><Relationship Type="http://schemas.openxmlformats.org/officeDocument/2006/relationships/notesMaster" Target="/ppt/notesMasters/notesMaster1.xml" Id="Rf5e34e5f573d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3cd5f55c8e48de" /><Relationship Type="http://schemas.openxmlformats.org/officeDocument/2006/relationships/notesMaster" Target="/ppt/notesMasters/notesMaster1.xml" Id="Raf8156f4d7e5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fcccb62e243f1" /><Relationship Type="http://schemas.openxmlformats.org/officeDocument/2006/relationships/notesMaster" Target="/ppt/notesMasters/notesMaster1.xml" Id="Re6df513c1b8f4f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f217515c14ff0" /><Relationship Type="http://schemas.openxmlformats.org/officeDocument/2006/relationships/notesMaster" Target="/ppt/notesMasters/notesMaster1.xml" Id="R10adbe04070745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a842f15514e66" /><Relationship Type="http://schemas.openxmlformats.org/officeDocument/2006/relationships/notesMaster" Target="/ppt/notesMasters/notesMaster1.xml" Id="Re08dd92ce69f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cb800ed7b84b9c" /><Relationship Type="http://schemas.openxmlformats.org/officeDocument/2006/relationships/notesMaster" Target="/ppt/notesMasters/notesMaster1.xml" Id="R7f5091f32e2b47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6fecd3de94980" /><Relationship Type="http://schemas.openxmlformats.org/officeDocument/2006/relationships/notesMaster" Target="/ppt/notesMasters/notesMaster1.xml" Id="R6f9f57b55add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d8e7028404d4b" /><Relationship Type="http://schemas.openxmlformats.org/officeDocument/2006/relationships/notesMaster" Target="/ppt/notesMasters/notesMaster1.xml" Id="Rca11dede6086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c565162754794" /><Relationship Type="http://schemas.openxmlformats.org/officeDocument/2006/relationships/notesMaster" Target="/ppt/notesMasters/notesMaster1.xml" Id="R82d8895c5a5643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d46cb5c254556" /><Relationship Type="http://schemas.openxmlformats.org/officeDocument/2006/relationships/notesMaster" Target="/ppt/notesMasters/notesMaster1.xml" Id="Rce6208bb0c9f41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O ViaAgora é um projeto educacional da APS de Desenvolvimento de Sistemas Distribuídos. O aplicativo reúne informações sobre travessias da Baixada Santista e relatos colaborativos. A apresentação mostra o problema, a solução no celular e, principalmente, como os processos do servidor compartilham os eventos. Ao final, há os links para o APK, o site e o código. Os resultados apresentados correspondem à verificação documentada em 29 de outubro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docs/verificacao.md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O projeto se concentra em três ligações da Baixada Santista. A informação oficial mostra a situação divulgada pela SEMIL-SP. Os relatos acrescentam observações de quem está na fila, como espera, embarque lento ou interrupção. O objetivo é reunir essas fontes e permitir que os clientes acompanhem mudanças. Um relato colaborativo não confirma uma situação oficialmente. O projeto também permite estudar comunicação entre réplicas e recuperação após falhas. Não foi medido um efeito do aplicativo sobre filas ou emissões.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docs/arquitetura.md</a:t>
            </a:r>
          </a:p>
          <a:p xmlns:a="http://schemas.openxmlformats.org/drawingml/2006/main">
            <a:r>
              <a:t>https://semil.sp.gov.br/travessias/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Estas capturas reais preservam as telas utilizadas na versão anterior do relatório. A tela Travessias mostra os dois lados, o tempo de espera e o aviso da fonte. O mapa localiza os terminais e usa cores para representar a espera. No formulário, o participante escolhe a travessia, o lado e a categoria do relato. A interface atual inclui a aba Bastidores, ausente nestas imagens. Os números das capturas são exemplos daquele momento e não representam a situação atual das travessias.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Capturas fornecidas: image2.png, image4.png e image5.png, extraídas do relatório anterior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docs/arquitetura.md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O celular fica fora da VPS e acessa a entrada pública do Nginx. Duas réplicas de API recebem requisições e mantêm canais WebSocket. O PostgreSQL concentra dados e outbox. O coletor consulta a SEMIL-SP, que continua sendo uma fonte externa, e normaliza a leitura. O worker publica os eventos pendentes no RabbitMQ. O exchange fanout entrega uma cópia para a fila de cada API. As linhas do diagrama representam essas relações. Embora existam processos separados e duas APIs, todos os serviços hospedados compartilham uma única máquina.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docs/arquitetura.md</a:t>
            </a:r>
          </a:p>
          <a:p xmlns:a="http://schemas.openxmlformats.org/drawingml/2006/main">
            <a:r>
              <a:t>docs/demonstracao.md</a:t>
            </a:r>
          </a:p>
          <a:p xmlns:a="http://schemas.openxmlformats.org/drawingml/2006/main">
            <a:r>
              <a:t>site/index.html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A API salva o relato e o evento na mesma transação do PostgreSQL. Isso evita uma janela entre gravar e tentar publicar. Depois, o worker lê os eventos pendentes e aguarda a confirmação do broker. O fanout envia uma cópia para cada fila de réplica. Cada API avisa seus próprios clientes por WebSocket. O aplicativo recebe a indicação de mudança e consulta o estado atual. A entrega pode se repetir, por isso o cliente não trata a notificação como se fosse a única cópia do dado. A chave de idempotência também evita duplicar o mesmo envio.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docs/arquitetura.md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Esta é uma sequência de demonstração para executar somente no laboratório local. Primeiro, dois clientes usam APIs diferentes, nas portas 4310 e 4311. Com o broker parado, um novo relato ainda pode ser salvo e deixar a publicação pendente na outbox. Ao iniciar o broker novamente, o worker retoma essa pendência. A reconexão do aplicativo solicita novamente o estado. Não é necessário interromper a VPS da avaliação para mostrar esse conceito. Caso uma API local seja parada, o cliente conectado diretamente àquela porta precisa usar a porta que continua disponível.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docs/demonstracao.md</a:t>
            </a:r>
          </a:p>
          <a:p xmlns:a="http://schemas.openxmlformats.org/drawingml/2006/main">
            <a:r>
              <a:t>docs/execucao-local.md</a:t>
            </a:r>
          </a:p>
          <a:p xmlns:a="http://schemas.openxmlformats.org/drawingml/2006/main">
            <a:r>
              <a:t>docs/arquitetura.md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A aba Bastidores e o endpoint de sistema mostram sinais registrados pelo backend. Esta consulta real à VPS ocorreu às 01h59 de 29 de outubro, no horário de Brasília. As duas APIs, o worker e o coletor estavam ativos. Banco e broker estavam disponíveis e a outbox não tinha pendências. O evento exibido registra criação, publicação e entrega às duas réplicas. Naquele evento havia zero clientes conectados, portanto o registro não comprova exibição em um celular. O sistema ainda não instrumenta uma confirmação individual da renderização no aparelho. Esses valores variam com o tempo.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https://sedda.com.br/v1/system, consultado em 2026-10-29T04:59:45.199Z</a:t>
            </a:r>
          </a:p>
          <a:p xmlns:a="http://schemas.openxmlformats.org/drawingml/2006/main">
            <a:r>
              <a:t>Evidência preservada: system-evidence.json, evento 719929b1-5525-4638-b8da-352dee3f48cc</a:t>
            </a:r>
          </a:p>
          <a:p xmlns:a="http://schemas.openxmlformats.org/drawingml/2006/main">
            <a:r>
              <a:t>docs/arquitetura.md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A última verificação técnica documentada ocorreu em 29 de outubro de 2026. Os 24 testes do backend passaram com PostgreSQL e RabbitMQ reais em um ambiente isolado. A cobertura inclui idempotência, outbox, falha da fonte, comunicação entre réplicas e recuperação de publicação pendente. No Android, os 15 testes passaram, o APK compilou e o lint não apresentou erros. Essas verificações demonstram o comportamento coberto pelos testes. Elas não equivalem a um ensaio de capacidade, a uma garantia de disponibilidade ou a uma medição de impacto ambiental do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docs/verificacao.md</a:t>
            </a:r>
          </a:p>
          <a:p xmlns:a="http://schemas.openxmlformats.org/drawingml/2006/main">
            <a:r>
              <a:t>compose.test.yaml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O projeto tem limites que precisam acompanhar sua interpretação. A VPS é única, então a replicação das APIs não elimina uma falha da máquina inteira. A coleta depende de um painel externo sem contrato de API aberta documentada. Em falha, o sistema mantém o último dado e sinaliza atraso. O gráfico desta captura informa que inclui dados simulados e serve apenas para ilustrar a função de histórico. Não houve medição de redução de filas ou emissões. Os avisos também dependem de o aplicativo estar aberto ou ter permanecido recentemente em segundo plano, pois não há push.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docs/arquitetura.md</a:t>
            </a:r>
          </a:p>
          <a:p xmlns:a="http://schemas.openxmlformats.org/drawingml/2006/main">
            <a:r>
              <a:t>docs/demonstracao.md</a:t>
            </a:r>
          </a:p>
          <a:p xmlns:a="http://schemas.openxmlformats.org/drawingml/2006/main">
            <a:r>
              <a:t>Captura fornecida: image3.png, extraída do relatório anterior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 (30 a 60 segundos)</a:t>
            </a:r>
          </a:p>
          <a:p xmlns:a="http://schemas.openxmlformats.org/drawingml/2006/main">
            <a:r>
              <a:t>Para encerrar, abra o aplicativo conectado ao ambiente hospedado e mostre as três travessias, os relatos e os sinais de Bastidores. A demonstração de falha fica no laboratório local, com dois clientes em réplicas diferentes. O primeiro link oferece o APK, o segundo abre o site da apresentação e o terceiro contém o código e as instruções reproduzíveis. A principal contribuição acadêmica do trabalho é tornar visível o percurso de persistência, publicação e atualização entre processos separados, incluindo as limitações observadas e a recuperação prevista nos testes.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docs/demonstracao.md</a:t>
            </a:r>
          </a:p>
          <a:p xmlns:a="http://schemas.openxmlformats.org/drawingml/2006/main">
            <a:r>
              <a:t>https://sedda.com.br/?aps=1</a:t>
            </a:r>
          </a:p>
          <a:p xmlns:a="http://schemas.openxmlformats.org/drawingml/2006/main">
            <a:r>
              <a:t>https://github.com/Bruno70i/APS---8-SEMESTRE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925529e3a4a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4bdfac99e42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f80c0a2e048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01a8d56c74d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a8ff0047546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1fe408216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43F50-5A41-4A8C-A0BC-EE5DB2C8D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5D1A71-C44F-43AF-A11F-6B67D6B0B5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1893CD-AC68-4707-B531-B08DBC263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56BCD9-DFCB-40A4-BA24-4F39AD042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5DBCA5-1F93-46AF-8F93-83EC539A5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3DD083-8CD3-43F5-BE54-FC1BE39F5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1C668E-6F52-4CB0-8B9A-59D7A4196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D18E68-A839-49EE-83D8-7CB4EEF301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B780B9-31F2-4896-BE0E-100EBD17B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75D66D-32FD-4AE1-966A-9EE3133833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78374a091946bb" /><Relationship Type="http://schemas.openxmlformats.org/officeDocument/2006/relationships/slideLayout" Target="/ppt/slideLayouts/slideLayout1.xml" Id="R5eaa8a44f61c428b" /><Relationship Type="http://schemas.openxmlformats.org/officeDocument/2006/relationships/slideLayout" Target="/ppt/slideLayouts/slideLayout2.xml" Id="R6638972e3b334f14" /><Relationship Type="http://schemas.openxmlformats.org/officeDocument/2006/relationships/slideLayout" Target="/ppt/slideLayouts/slideLayout3.xml" Id="Rd4df0c80b945426b" /><Relationship Type="http://schemas.openxmlformats.org/officeDocument/2006/relationships/slideLayout" Target="/ppt/slideLayouts/slideLayout4.xml" Id="Rc8cf859081344417" /><Relationship Type="http://schemas.openxmlformats.org/officeDocument/2006/relationships/slideLayout" Target="/ppt/slideLayouts/slideLayout5.xml" Id="Rdc6af908f76b48e6" /><Relationship Type="http://schemas.openxmlformats.org/officeDocument/2006/relationships/slideLayout" Target="/ppt/slideLayouts/slideLayout6.xml" Id="Rf181bc44f28e4b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a8a44f61c428b"/>
    <p:sldLayoutId xmlns:r="http://schemas.openxmlformats.org/officeDocument/2006/relationships" id="2147483650" r:id="R6638972e3b334f14"/>
    <p:sldLayoutId xmlns:r="http://schemas.openxmlformats.org/officeDocument/2006/relationships" id="2147483651" r:id="Rd4df0c80b945426b"/>
    <p:sldLayoutId xmlns:r="http://schemas.openxmlformats.org/officeDocument/2006/relationships" id="2147483652" r:id="Rc8cf859081344417"/>
    <p:sldLayoutId xmlns:r="http://schemas.openxmlformats.org/officeDocument/2006/relationships" id="2147483653" r:id="Rdc6af908f76b48e6"/>
    <p:sldLayoutId xmlns:r="http://schemas.openxmlformats.org/officeDocument/2006/relationships" id="2147483654" r:id="Rf181bc44f28e4b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874cdca4f4c06" /><Relationship Type="http://schemas.openxmlformats.org/officeDocument/2006/relationships/notesSlide" Target="/ppt/notesSlides/notesSlide1.xml" Id="R545447e697d746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90fafc2864e5f" /><Relationship Type="http://schemas.openxmlformats.org/officeDocument/2006/relationships/notesSlide" Target="/ppt/notesSlides/notesSlide2.xml" Id="Rbf8a9215f9bf46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fa96fac2345b8" /><Relationship Type="http://schemas.openxmlformats.org/officeDocument/2006/relationships/image" Target="/ppt/media/image.png" Id="R94beab754bd44030" /><Relationship Type="http://schemas.openxmlformats.org/officeDocument/2006/relationships/image" Target="/ppt/media/image2.png" Id="Rc89fdeb9df244804" /><Relationship Type="http://schemas.openxmlformats.org/officeDocument/2006/relationships/image" Target="/ppt/media/image3.png" Id="R42afdbf2da064303" /><Relationship Type="http://schemas.openxmlformats.org/officeDocument/2006/relationships/notesSlide" Target="/ppt/notesSlides/notesSlide3.xml" Id="Racd7b316dd9a4f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af22ae0744d61" /><Relationship Type="http://schemas.openxmlformats.org/officeDocument/2006/relationships/notesSlide" Target="/ppt/notesSlides/notesSlide4.xml" Id="R9375778e01f449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e91cc42284217" /><Relationship Type="http://schemas.openxmlformats.org/officeDocument/2006/relationships/notesSlide" Target="/ppt/notesSlides/notesSlide5.xml" Id="R2ee43ec10f904b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1ef9f5ce94027" /><Relationship Type="http://schemas.openxmlformats.org/officeDocument/2006/relationships/notesSlide" Target="/ppt/notesSlides/notesSlide6.xml" Id="Radf990355f5d43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231c013ac47a0" /><Relationship Type="http://schemas.openxmlformats.org/officeDocument/2006/relationships/notesSlide" Target="/ppt/notesSlides/notesSlide7.xml" Id="Rf420bc14a9f240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bf13f8a4f4ff9" /><Relationship Type="http://schemas.openxmlformats.org/officeDocument/2006/relationships/notesSlide" Target="/ppt/notesSlides/notesSlide8.xml" Id="Red3596fc3b6e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c6854e9334791" /><Relationship Type="http://schemas.openxmlformats.org/officeDocument/2006/relationships/image" Target="/ppt/media/image4.png" Id="R8005af75199f490e" /><Relationship Type="http://schemas.openxmlformats.org/officeDocument/2006/relationships/notesSlide" Target="/ppt/notesSlides/notesSlide9.xml" Id="R3f4e131a43df4b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2fec05ee7468c" /><Relationship Type="http://schemas.openxmlformats.org/officeDocument/2006/relationships/hyperlink" Target="https://sedda.com.br/downloads/ViaAgora.apk" TargetMode="External" Id="R4ea8cf29d29c4558" /><Relationship Type="http://schemas.openxmlformats.org/officeDocument/2006/relationships/hyperlink" Target="https://sedda.com.br/?aps=1" TargetMode="External" Id="R113b9721e88c427d" /><Relationship Type="http://schemas.openxmlformats.org/officeDocument/2006/relationships/hyperlink" Target="https://github.com/Bruno70i/APS---8-SEMESTRE" TargetMode="External" Id="R1f16d46038ed4968" /><Relationship Type="http://schemas.openxmlformats.org/officeDocument/2006/relationships/notesSlide" Target="/ppt/notesSlides/notesSlide10.xml" Id="Rbd9e9226e46a49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iaAgora">
            <a:extLst xmlns:a="http://schemas.openxmlformats.org/drawingml/2006/main">
              <a:ext uri="{FF2B5EF4-FFF2-40B4-BE49-F238E27FC236}">
                <a16:creationId xmlns:a16="http://schemas.microsoft.com/office/drawing/2014/main" id="{C5D7B351-4A02-4032-BCB6-BF15C23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ViaAgora</a:t>
            </a:r>
          </a:p>
        </p:txBody>
      </p:sp>
      <p:sp>
        <p:nvSpPr>
          <p:cNvPr id="2" name="Travessias da Baixada Santista">
            <a:extLst xmlns:a="http://schemas.openxmlformats.org/drawingml/2006/main">
              <a:ext uri="{FF2B5EF4-FFF2-40B4-BE49-F238E27FC236}">
                <a16:creationId xmlns:a16="http://schemas.microsoft.com/office/drawing/2014/main" id="{E0BFFE45-483B-412A-9D5A-93C1BC45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Travessias da Baixada Santista</a:t>
            </a:r>
          </a:p>
        </p:txBody>
      </p:sp>
      <p:sp>
        <p:nvSpPr>
          <p:cNvPr id="3" name="Desenvolvimento de Sistemas Distribuídos">
            <a:extLst xmlns:a="http://schemas.openxmlformats.org/drawingml/2006/main">
              <a:ext uri="{FF2B5EF4-FFF2-40B4-BE49-F238E27FC236}">
                <a16:creationId xmlns:a16="http://schemas.microsoft.com/office/drawing/2014/main" id="{99F06F20-6226-41AF-9B64-A6C9BFC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Desenvolvimento de Sistemas Distribuídos</a:t>
            </a:r>
          </a:p>
        </p:txBody>
      </p:sp>
      <p:sp>
        <p:nvSpPr>
          <p:cNvPr id="4" name="Bruno Nascimento de P. Silva&#10;RA G793030">
            <a:extLst xmlns:a="http://schemas.openxmlformats.org/drawingml/2006/main">
              <a:ext uri="{FF2B5EF4-FFF2-40B4-BE49-F238E27FC236}">
                <a16:creationId xmlns:a16="http://schemas.microsoft.com/office/drawing/2014/main" id="{C46334D8-9E6C-423F-8991-E9A300F7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Bruno Nascimento de P. Silva</a:t>
            </a:r>
          </a:p>
          <a:p xmlns:a="http://schemas.openxmlformats.org/drawingml/2006/main">
            <a:pPr algn="l">
              <a:defRPr sz="1875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RA G793030</a:t>
            </a:r>
          </a:p>
        </p:txBody>
      </p:sp>
      <p:sp>
        <p:nvSpPr>
          <p:cNvPr id="5" name="UNIP · Ciência da Computação&#10;Santos, 2026">
            <a:extLst xmlns:a="http://schemas.openxmlformats.org/drawingml/2006/main">
              <a:ext uri="{FF2B5EF4-FFF2-40B4-BE49-F238E27FC236}">
                <a16:creationId xmlns:a16="http://schemas.microsoft.com/office/drawing/2014/main" id="{1B374B9B-3CA3-4089-A502-51AE2F1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UNIP · Ciência da Computação</a:t>
            </a:r>
          </a:p>
          <a:p xmlns:a="http://schemas.openxmlformats.org/drawingml/2006/main">
            <a:pPr algn="l">
              <a:defRPr sz="15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Santos, 2026</a:t>
            </a:r>
          </a:p>
        </p:txBody>
      </p:sp>
    </p:spTree>
    <p:extLst>
      <p:ext uri="{BB962C8B-B14F-4D97-AF65-F5344CB8AC3E}">
        <p14:creationId xmlns:p14="http://schemas.microsoft.com/office/powerpoint/2010/main" val="411714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blema e objetivo">
            <a:extLst xmlns:a="http://schemas.openxmlformats.org/drawingml/2006/main">
              <a:ext uri="{FF2B5EF4-FFF2-40B4-BE49-F238E27FC236}">
                <a16:creationId xmlns:a16="http://schemas.microsoft.com/office/drawing/2014/main" id="{182C1D2D-51E3-4CA2-95B0-092C9C4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C77A041-D3D0-45D1-885B-543BBF9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Informação para decidir&#10;quando atravessar">
            <a:extLst xmlns:a="http://schemas.openxmlformats.org/drawingml/2006/main">
              <a:ext uri="{FF2B5EF4-FFF2-40B4-BE49-F238E27FC236}">
                <a16:creationId xmlns:a16="http://schemas.microsoft.com/office/drawing/2014/main" id="{CD4BB5CE-4954-4B85-BDEA-76D10005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Informação para decidir</a:t>
            </a:r>
          </a:p>
          <a:p xmlns:a="http://schemas.openxmlformats.org/drawingml/2006/main">
            <a:pPr algn="l">
              <a:defRPr sz="33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quando atravessar</a:t>
            </a:r>
          </a:p>
        </p:txBody>
      </p:sp>
      <p:sp>
        <p:nvSpPr>
          <p:cNvPr id="4" name="Reunir a leitura oficial e os relatos da comunidade em ">
            <a:extLst xmlns:a="http://schemas.openxmlformats.org/drawingml/2006/main">
              <a:ext uri="{FF2B5EF4-FFF2-40B4-BE49-F238E27FC236}">
                <a16:creationId xmlns:a16="http://schemas.microsoft.com/office/drawing/2014/main" id="{AD33D1EF-619B-4A6D-9375-B9376C8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095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Reunir a leitura oficial e os relatos da comunidade em um aplicativo Android.</a:t>
            </a:r>
          </a:p>
        </p:txBody>
      </p:sp>
      <p:sp>
        <p:nvSpPr>
          <p:cNvPr id="5" name="Três travessias">
            <a:extLst xmlns:a="http://schemas.openxmlformats.org/drawingml/2006/main">
              <a:ext uri="{FF2B5EF4-FFF2-40B4-BE49-F238E27FC236}">
                <a16:creationId xmlns:a16="http://schemas.microsoft.com/office/drawing/2014/main" id="{B360F3B1-7DBC-4862-BCB1-DA8EAFAC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Três travessias</a:t>
            </a:r>
          </a:p>
        </p:txBody>
      </p:sp>
      <p:sp>
        <p:nvSpPr>
          <p:cNvPr id="6" name="Santos ⇄ Guarujá&#10;&#10;Santos ⇄ Vicente de Carvalho&#10;&#10;Bertiog">
            <a:extLst xmlns:a="http://schemas.openxmlformats.org/drawingml/2006/main">
              <a:ext uri="{FF2B5EF4-FFF2-40B4-BE49-F238E27FC236}">
                <a16:creationId xmlns:a16="http://schemas.microsoft.com/office/drawing/2014/main" id="{2F046807-5098-4767-AA74-662D0C6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Santos ⇄ Guarujá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Santos ⇄ Vicente de Carvalho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Bertioga ⇄ Guarujá</a:t>
            </a:r>
          </a:p>
        </p:txBody>
      </p:sp>
      <p:sp>
        <p:nvSpPr>
          <p:cNvPr id="7" name="Leitura oficial e relato colaborativo têm identificação">
            <a:extLst xmlns:a="http://schemas.openxmlformats.org/drawingml/2006/main">
              <a:ext uri="{FF2B5EF4-FFF2-40B4-BE49-F238E27FC236}">
                <a16:creationId xmlns:a16="http://schemas.microsoft.com/office/drawing/2014/main" id="{CA871FAF-8112-4D6D-83C6-D77BC89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Leitura oficial e relato colaborativo têm identificação própria.</a:t>
            </a:r>
          </a:p>
        </p:txBody>
      </p:sp>
    </p:spTree>
    <p:extLst>
      <p:ext uri="{BB962C8B-B14F-4D97-AF65-F5344CB8AC3E}">
        <p14:creationId xmlns:p14="http://schemas.microsoft.com/office/powerpoint/2010/main" val="860606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 aplicativo">
            <a:extLst xmlns:a="http://schemas.openxmlformats.org/drawingml/2006/main">
              <a:ext uri="{FF2B5EF4-FFF2-40B4-BE49-F238E27FC236}">
                <a16:creationId xmlns:a16="http://schemas.microsoft.com/office/drawing/2014/main" id="{5380FA12-63DF-4C7B-AF3B-0A5422E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O aplicativo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CE22D234-F03C-48BF-8E4E-6A0501C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ravessias">
            <a:extLst xmlns:a="http://schemas.openxmlformats.org/drawingml/2006/main">
              <a:ext uri="{FF2B5EF4-FFF2-40B4-BE49-F238E27FC236}">
                <a16:creationId xmlns:a16="http://schemas.microsoft.com/office/drawing/2014/main" id="{60CA9F71-0221-4D7B-8292-CE99964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668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Travessias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254EE-EEEB-4534-B283-C45597B52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eab754bd44030"/>
          <a:stretch xmlns:a="http://schemas.openxmlformats.org/drawingml/2006/main"/>
        </p:blipFill>
        <p:spPr>
          <a:xfrm xmlns:a="http://schemas.openxmlformats.org/drawingml/2006/main">
            <a:off x="1323975" y="1752600"/>
            <a:ext cx="2057400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Mapa">
            <a:extLst xmlns:a="http://schemas.openxmlformats.org/drawingml/2006/main">
              <a:ext uri="{FF2B5EF4-FFF2-40B4-BE49-F238E27FC236}">
                <a16:creationId xmlns:a16="http://schemas.microsoft.com/office/drawing/2014/main" id="{060FF9DF-2347-4284-99C8-F747F513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668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55B32-904D-483E-A762-7C3D4A25B7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fdeb9df244804"/>
          <a:stretch xmlns:a="http://schemas.openxmlformats.org/drawingml/2006/main"/>
        </p:blipFill>
        <p:spPr>
          <a:xfrm xmlns:a="http://schemas.openxmlformats.org/drawingml/2006/main">
            <a:off x="5067300" y="1752600"/>
            <a:ext cx="2057400" cy="4114800"/>
          </a:xfrm>
          <a:prstGeom xmlns:a="http://schemas.openxmlformats.org/drawingml/2006/main" prst="rect">
            <a:avLst/>
          </a:prstGeom>
        </p:spPr>
      </p:pic>
      <p:sp>
        <p:nvSpPr>
          <p:cNvPr id="7" name="Novo relato">
            <a:extLst xmlns:a="http://schemas.openxmlformats.org/drawingml/2006/main">
              <a:ext uri="{FF2B5EF4-FFF2-40B4-BE49-F238E27FC236}">
                <a16:creationId xmlns:a16="http://schemas.microsoft.com/office/drawing/2014/main" id="{EA991E18-F0B5-4638-B23D-C1EB68D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668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Novo relato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40AA9-8E94-4CF2-B847-FE86B56E3E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fdbf2da064303"/>
          <a:stretch xmlns:a="http://schemas.openxmlformats.org/drawingml/2006/main"/>
        </p:blipFill>
        <p:spPr>
          <a:xfrm xmlns:a="http://schemas.openxmlformats.org/drawingml/2006/main">
            <a:off x="8810625" y="1752600"/>
            <a:ext cx="2057400" cy="4114800"/>
          </a:xfrm>
          <a:prstGeom xmlns:a="http://schemas.openxmlformats.org/drawingml/2006/main" prst="rect">
            <a:avLst/>
          </a:prstGeom>
        </p:spPr>
      </p:pic>
      <p:sp>
        <p:nvSpPr>
          <p:cNvPr id="9" name="Capturas reais da versão anterior. A versão 1.1 inclui ">
            <a:extLst xmlns:a="http://schemas.openxmlformats.org/drawingml/2006/main">
              <a:ext uri="{FF2B5EF4-FFF2-40B4-BE49-F238E27FC236}">
                <a16:creationId xmlns:a16="http://schemas.microsoft.com/office/drawing/2014/main" id="{FA9B8BC9-4B79-4E2C-AD73-48E5B0B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Capturas reais da versão anterior. A versão 1.1 inclui a aba Bastidores.</a:t>
            </a:r>
          </a:p>
        </p:txBody>
      </p:sp>
    </p:spTree>
    <p:extLst>
      <p:ext uri="{BB962C8B-B14F-4D97-AF65-F5344CB8AC3E}">
        <p14:creationId xmlns:p14="http://schemas.microsoft.com/office/powerpoint/2010/main" val="926023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Arquitetura distribuída">
            <a:extLst xmlns:a="http://schemas.openxmlformats.org/drawingml/2006/main">
              <a:ext uri="{FF2B5EF4-FFF2-40B4-BE49-F238E27FC236}">
                <a16:creationId xmlns:a16="http://schemas.microsoft.com/office/drawing/2014/main" id="{E52D2774-ADF3-45DD-AF97-E07DC827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Arquitetura distribuída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FD2068B-CFE6-4BE4-A9DE-BA6C5A5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BC596-A6ED-4DDB-8F36-8BD9C17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95425"/>
            <a:ext cx="88773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ADF"/>
            </a:solidFill>
          </a:ln>
        </p:spPr>
      </p:sp>
      <p:sp>
        <p:nvSpPr>
          <p:cNvPr id="4" name="Uma VPS">
            <a:extLst xmlns:a="http://schemas.openxmlformats.org/drawingml/2006/main">
              <a:ext uri="{FF2B5EF4-FFF2-40B4-BE49-F238E27FC236}">
                <a16:creationId xmlns:a16="http://schemas.microsoft.com/office/drawing/2014/main" id="{449E559B-505D-4B76-AB02-D71E85C1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906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Uma VPS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0BA2A-F587-4EA9-A016-EFC8628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6" name="Android">
            <a:extLst xmlns:a="http://schemas.openxmlformats.org/drawingml/2006/main">
              <a:ext uri="{FF2B5EF4-FFF2-40B4-BE49-F238E27FC236}">
                <a16:creationId xmlns:a16="http://schemas.microsoft.com/office/drawing/2014/main" id="{C752DAC0-404C-4F94-A934-6ABC463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37160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7" name="fora da VPS">
            <a:extLst xmlns:a="http://schemas.openxmlformats.org/drawingml/2006/main">
              <a:ext uri="{FF2B5EF4-FFF2-40B4-BE49-F238E27FC236}">
                <a16:creationId xmlns:a16="http://schemas.microsoft.com/office/drawing/2014/main" id="{AAE36AFF-7AF1-439F-8932-DBB69BD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1414"/>
            <a:ext cx="14097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fora da VPS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FE278-97B2-4A7C-AA3B-98B5FC1E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9" name="Nginx">
            <a:extLst xmlns:a="http://schemas.openxmlformats.org/drawingml/2006/main">
              <a:ext uri="{FF2B5EF4-FFF2-40B4-BE49-F238E27FC236}">
                <a16:creationId xmlns:a16="http://schemas.microsoft.com/office/drawing/2014/main" id="{E2A60BD5-ED9B-42AA-9A64-CE1D8A80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39065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0" name="entrada pública">
            <a:extLst xmlns:a="http://schemas.openxmlformats.org/drawingml/2006/main">
              <a:ext uri="{FF2B5EF4-FFF2-40B4-BE49-F238E27FC236}">
                <a16:creationId xmlns:a16="http://schemas.microsoft.com/office/drawing/2014/main" id="{874ACB3C-F124-46BC-8C43-35B4031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1414"/>
            <a:ext cx="142875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entrada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9553D-8084-45CE-9499-EF55EC5C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2" name="API 1">
            <a:extLst xmlns:a="http://schemas.openxmlformats.org/drawingml/2006/main">
              <a:ext uri="{FF2B5EF4-FFF2-40B4-BE49-F238E27FC236}">
                <a16:creationId xmlns:a16="http://schemas.microsoft.com/office/drawing/2014/main" id="{14FD5EE8-4006-4380-B55A-F81A4E24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API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EED9A-C529-4EDD-87D7-13C76899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4" name="API 2">
            <a:extLst xmlns:a="http://schemas.openxmlformats.org/drawingml/2006/main">
              <a:ext uri="{FF2B5EF4-FFF2-40B4-BE49-F238E27FC236}">
                <a16:creationId xmlns:a16="http://schemas.microsoft.com/office/drawing/2014/main" id="{4E861910-9E86-49C5-9753-F3B1C9E0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API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807C9-C736-487F-9101-F2371290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1828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6" name="PostgreSQL">
            <a:extLst xmlns:a="http://schemas.openxmlformats.org/drawingml/2006/main">
              <a:ext uri="{FF2B5EF4-FFF2-40B4-BE49-F238E27FC236}">
                <a16:creationId xmlns:a16="http://schemas.microsoft.com/office/drawing/2014/main" id="{034314F4-B4C5-4A2D-B2ED-29634AA5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160020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" name="dados + outbox">
            <a:extLst xmlns:a="http://schemas.openxmlformats.org/drawingml/2006/main">
              <a:ext uri="{FF2B5EF4-FFF2-40B4-BE49-F238E27FC236}">
                <a16:creationId xmlns:a16="http://schemas.microsoft.com/office/drawing/2014/main" id="{FEB6105D-0187-4DDB-AF3B-B414F705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31820"/>
            <a:ext cx="1638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dados + outbox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31AD0-950B-410B-9096-8B9177F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764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9" name="RabbitMQ">
            <a:extLst xmlns:a="http://schemas.openxmlformats.org/drawingml/2006/main">
              <a:ext uri="{FF2B5EF4-FFF2-40B4-BE49-F238E27FC236}">
                <a16:creationId xmlns:a16="http://schemas.microsoft.com/office/drawing/2014/main" id="{F75CF2A3-D64C-4408-8A59-52ECC9D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52650"/>
            <a:ext cx="1257300" cy="315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20" name="fanout">
            <a:extLst xmlns:a="http://schemas.openxmlformats.org/drawingml/2006/main">
              <a:ext uri="{FF2B5EF4-FFF2-40B4-BE49-F238E27FC236}">
                <a16:creationId xmlns:a16="http://schemas.microsoft.com/office/drawing/2014/main" id="{5072FD1A-2C24-4541-B4C2-A3FC0CDA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33066"/>
            <a:ext cx="129540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fanout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7BAAF-FF90-4DAD-9C24-F10B4263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19625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22" name="Worker">
            <a:extLst xmlns:a="http://schemas.openxmlformats.org/drawingml/2006/main">
              <a:ext uri="{FF2B5EF4-FFF2-40B4-BE49-F238E27FC236}">
                <a16:creationId xmlns:a16="http://schemas.microsoft.com/office/drawing/2014/main" id="{609163DA-CDBC-40C9-A07D-7BA61FC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69582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604A5-97AA-4750-82BB-1D74DCB5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9625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24" name="Coletor">
            <a:extLst xmlns:a="http://schemas.openxmlformats.org/drawingml/2006/main">
              <a:ext uri="{FF2B5EF4-FFF2-40B4-BE49-F238E27FC236}">
                <a16:creationId xmlns:a16="http://schemas.microsoft.com/office/drawing/2014/main" id="{37E4DFD5-A48A-4AEE-96EE-E937B56E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9582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Coletor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A578E-AB4C-43C2-858E-643E48C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26" name="SEMIL-SP">
            <a:extLst xmlns:a="http://schemas.openxmlformats.org/drawingml/2006/main">
              <a:ext uri="{FF2B5EF4-FFF2-40B4-BE49-F238E27FC236}">
                <a16:creationId xmlns:a16="http://schemas.microsoft.com/office/drawing/2014/main" id="{EACD8B72-13DF-4C9E-91BF-59B04357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371600" cy="28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SEMIL-SP</a:t>
            </a:r>
          </a:p>
        </p:txBody>
      </p:sp>
      <p:sp>
        <p:nvSpPr>
          <p:cNvPr id="27" name="fonte externa">
            <a:extLst xmlns:a="http://schemas.openxmlformats.org/drawingml/2006/main">
              <a:ext uri="{FF2B5EF4-FFF2-40B4-BE49-F238E27FC236}">
                <a16:creationId xmlns:a16="http://schemas.microsoft.com/office/drawing/2014/main" id="{3FC58C02-83F8-424E-825F-6DA7FF17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6617"/>
            <a:ext cx="14097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fonte externa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2B9CA-0F17-4BF2-B8E0-5BADA39173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33600" y="2914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CF325-24F1-43BB-BEC0-799518BA92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0" y="2914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99E0B-E199-4ED8-AB31-92E20CC43C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2381250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B51BE-25BF-4FB3-A691-9D48D4A1A1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2381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E4ECA-64DE-4243-B727-56CBF498E3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3543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9F445E-D936-4963-B558-F1089CE82A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86575" y="2381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C5DEF-C946-436A-B783-CF9F2FF716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91375" y="238125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419C6-49F3-4BF0-9BE0-E4BFFCF38A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91375" y="31146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AD036D-4E0B-47ED-9717-E3861DD3E5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86575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DA7178-D33F-4806-986F-011BF38802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91375" y="3114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DE317-B08C-45AA-BF69-F810F9703B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33600" y="492442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A48D45-803C-4E94-9687-F3AB262B26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86575" y="4924425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0A52D-4108-4B97-81EE-C0F5B38C6A4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401050" y="354330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1C6123-9FC8-4FA7-ADAA-AF734437E7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315450" y="31146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931174-B627-416C-A19A-8E9A49F9B5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77375" y="3114675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BD2B6-11EE-45CE-AA6B-E69DE92F22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77375" y="49244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3411C8-C22F-41D9-B91F-FC89E9C5468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10825" y="2762250"/>
            <a:ext cx="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688861-C172-400D-BEFA-E5C73A60D78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172325" y="2257425"/>
            <a:ext cx="2495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4F"/>
            </a:solidFill>
            <a:tailEnd type="non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5BFB03-7457-4F45-9635-85637121D1C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72325" y="19431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8A579-BA97-4C1B-857B-3E49926A0AA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96000" y="194310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8F0F62-183C-41BF-82E2-E04A512582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19431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4F"/>
            </a:solidFill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11C4A7-81CC-44B5-A90A-9B31818AC2C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448800" y="25717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ADF8BD-2EBC-4B34-B0E7-8B91D35376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2571750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8E0331-1150-47CD-8A85-ED48EBCD3E1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96000" y="40481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AA93C1-C28D-4801-A139-C771165E2E6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96000" y="38481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64F"/>
            </a:solidFill>
            <a:tailEnd type="triangle" w="med" len="med"/>
          </a:ln>
        </p:spPr>
      </p:cxnSp>
      <p:sp>
        <p:nvSpPr>
          <p:cNvPr id="53" name="HTTP + WebSocket">
            <a:extLst xmlns:a="http://schemas.openxmlformats.org/drawingml/2006/main">
              <a:ext uri="{FF2B5EF4-FFF2-40B4-BE49-F238E27FC236}">
                <a16:creationId xmlns:a16="http://schemas.microsoft.com/office/drawing/2014/main" id="{F215ABA8-6BD7-4AE3-B177-39A9F1C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HTTP + WebSocket</a:t>
            </a:r>
          </a:p>
        </p:txBody>
      </p:sp>
      <p:sp>
        <p:nvSpPr>
          <p:cNvPr id="54" name="consulta + normalização">
            <a:extLst xmlns:a="http://schemas.openxmlformats.org/drawingml/2006/main">
              <a:ext uri="{FF2B5EF4-FFF2-40B4-BE49-F238E27FC236}">
                <a16:creationId xmlns:a16="http://schemas.microsoft.com/office/drawing/2014/main" id="{8D23C0AD-1AA5-4F99-AB41-941D202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219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consulta + normalização</a:t>
            </a:r>
          </a:p>
        </p:txBody>
      </p:sp>
      <p:sp>
        <p:nvSpPr>
          <p:cNvPr id="55" name="Duas réplicas de API compartilham banco e eventos. A VP">
            <a:extLst xmlns:a="http://schemas.openxmlformats.org/drawingml/2006/main">
              <a:ext uri="{FF2B5EF4-FFF2-40B4-BE49-F238E27FC236}">
                <a16:creationId xmlns:a16="http://schemas.microsoft.com/office/drawing/2014/main" id="{16B99DDC-A9D1-4E15-B656-627C76B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23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Duas réplicas de API compartilham banco e eventos. A VPS permanece um ponto de falha física.</a:t>
            </a:r>
          </a:p>
        </p:txBody>
      </p:sp>
    </p:spTree>
    <p:extLst>
      <p:ext uri="{BB962C8B-B14F-4D97-AF65-F5344CB8AC3E}">
        <p14:creationId xmlns:p14="http://schemas.microsoft.com/office/powerpoint/2010/main" val="1525847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 caminho de um relato">
            <a:extLst xmlns:a="http://schemas.openxmlformats.org/drawingml/2006/main">
              <a:ext uri="{FF2B5EF4-FFF2-40B4-BE49-F238E27FC236}">
                <a16:creationId xmlns:a16="http://schemas.microsoft.com/office/drawing/2014/main" id="{0025A8D8-4EAF-4316-93E2-7809B48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O caminho de um relato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AC3491ED-CB8E-4A70-BCC6-1AC805D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C81D-66FE-46BD-B814-60D046B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52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4" name="Relato">
            <a:extLst xmlns:a="http://schemas.openxmlformats.org/drawingml/2006/main">
              <a:ext uri="{FF2B5EF4-FFF2-40B4-BE49-F238E27FC236}">
                <a16:creationId xmlns:a16="http://schemas.microsoft.com/office/drawing/2014/main" id="{70C6AB5E-B567-44C6-BFCF-EE21F257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724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Relato</a:t>
            </a:r>
          </a:p>
        </p:txBody>
      </p:sp>
      <p:sp>
        <p:nvSpPr>
          <p:cNvPr id="5" name="HTTP + idempotência">
            <a:extLst xmlns:a="http://schemas.openxmlformats.org/drawingml/2006/main">
              <a:ext uri="{FF2B5EF4-FFF2-40B4-BE49-F238E27FC236}">
                <a16:creationId xmlns:a16="http://schemas.microsoft.com/office/drawing/2014/main" id="{8BADA00A-2214-448C-9656-17ECC32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HTTP + idempotência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755F8-0A07-4F9D-8E1F-605FFE60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09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7" name="Transação">
            <a:extLst xmlns:a="http://schemas.openxmlformats.org/drawingml/2006/main">
              <a:ext uri="{FF2B5EF4-FFF2-40B4-BE49-F238E27FC236}">
                <a16:creationId xmlns:a16="http://schemas.microsoft.com/office/drawing/2014/main" id="{2EE27C3C-C750-470B-940B-9B7DBF8A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8859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Transação</a:t>
            </a:r>
          </a:p>
        </p:txBody>
      </p:sp>
      <p:sp>
        <p:nvSpPr>
          <p:cNvPr id="8" name="relato + outbox">
            <a:extLst xmlns:a="http://schemas.openxmlformats.org/drawingml/2006/main">
              <a:ext uri="{FF2B5EF4-FFF2-40B4-BE49-F238E27FC236}">
                <a16:creationId xmlns:a16="http://schemas.microsoft.com/office/drawing/2014/main" id="{88682558-7B8E-4A36-B79F-24C4937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05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relato + outbox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8D355-5FA6-4251-AFC2-433DD93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1952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0" name="Worker">
            <a:extLst xmlns:a="http://schemas.openxmlformats.org/drawingml/2006/main">
              <a:ext uri="{FF2B5EF4-FFF2-40B4-BE49-F238E27FC236}">
                <a16:creationId xmlns:a16="http://schemas.microsoft.com/office/drawing/2014/main" id="{71096A80-4CDB-4E70-A881-0977379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85950"/>
            <a:ext cx="1724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11" name="confirma publicação">
            <a:extLst xmlns:a="http://schemas.openxmlformats.org/drawingml/2006/main">
              <a:ext uri="{FF2B5EF4-FFF2-40B4-BE49-F238E27FC236}">
                <a16:creationId xmlns:a16="http://schemas.microsoft.com/office/drawing/2014/main" id="{6AF17CE8-300B-4D39-9492-9905EF6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confirma publicação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0FC0A-34CE-429B-B9C7-626B96E7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3" name="RabbitMQ">
            <a:extLst xmlns:a="http://schemas.openxmlformats.org/drawingml/2006/main">
              <a:ext uri="{FF2B5EF4-FFF2-40B4-BE49-F238E27FC236}">
                <a16:creationId xmlns:a16="http://schemas.microsoft.com/office/drawing/2014/main" id="{59D742A2-7FE8-4CFD-84F5-B40AD73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4" name="exchange fanout">
            <a:extLst xmlns:a="http://schemas.openxmlformats.org/drawingml/2006/main">
              <a:ext uri="{FF2B5EF4-FFF2-40B4-BE49-F238E27FC236}">
                <a16:creationId xmlns:a16="http://schemas.microsoft.com/office/drawing/2014/main" id="{57EB064A-26E3-44F7-86F8-EEA9369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exchange fanout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739C6-2D28-4E74-9B28-DD89C5E19C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38425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C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785DF-BF68-4BD5-B93F-871474523E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81675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C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94B42-3A8F-423D-9EDC-472979ECC7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01050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C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39661-EEEB-49D7-8197-A9F3A28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19" name="Fila da API 1">
            <a:extLst xmlns:a="http://schemas.openxmlformats.org/drawingml/2006/main">
              <a:ext uri="{FF2B5EF4-FFF2-40B4-BE49-F238E27FC236}">
                <a16:creationId xmlns:a16="http://schemas.microsoft.com/office/drawing/2014/main" id="{F8CB16C7-36FD-4B7D-B572-112B6A15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Fila da API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F5987-3AE5-4B0E-8DA3-BC48615A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14288">
            <a:solidFill>
              <a:srgbClr val="087F8C"/>
            </a:solidFill>
          </a:ln>
        </p:spPr>
      </p:sp>
      <p:sp>
        <p:nvSpPr>
          <p:cNvPr id="21" name="Fila da API 2">
            <a:extLst xmlns:a="http://schemas.openxmlformats.org/drawingml/2006/main">
              <a:ext uri="{FF2B5EF4-FFF2-40B4-BE49-F238E27FC236}">
                <a16:creationId xmlns:a16="http://schemas.microsoft.com/office/drawing/2014/main" id="{4FD2BD6C-8F1B-4CD7-A29A-22568BC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Fila da API 2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9A6D1-2652-4A0D-8994-FD2ECA081C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87000" y="2762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86CD8-7B35-4F82-A05A-4F23FB5DEA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575" y="34290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non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3A7A0-804D-4568-B8E1-317D7F1F2A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575" y="3429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23B52-2BAB-41E9-9190-55F8189BA7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39375" y="3429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sp>
        <p:nvSpPr>
          <p:cNvPr id="26" name="WebSocket avisa os clientes de cada réplica">
            <a:extLst xmlns:a="http://schemas.openxmlformats.org/drawingml/2006/main">
              <a:ext uri="{FF2B5EF4-FFF2-40B4-BE49-F238E27FC236}">
                <a16:creationId xmlns:a16="http://schemas.microsoft.com/office/drawing/2014/main" id="{89DA5CD7-C2B3-4898-B628-068C14A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WebSocket avisa os clientes de cada réplica</a:t>
            </a:r>
          </a:p>
        </p:txBody>
      </p:sp>
      <p:sp>
        <p:nvSpPr>
          <p:cNvPr id="27" name="O app consulta o estado atualizado">
            <a:extLst xmlns:a="http://schemas.openxmlformats.org/drawingml/2006/main">
              <a:ext uri="{FF2B5EF4-FFF2-40B4-BE49-F238E27FC236}">
                <a16:creationId xmlns:a16="http://schemas.microsoft.com/office/drawing/2014/main" id="{67E6431E-DE62-473C-8B5C-7389161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 app consulta o estado atualizado</a:t>
            </a:r>
          </a:p>
        </p:txBody>
      </p:sp>
      <p:sp>
        <p:nvSpPr>
          <p:cNvPr id="28" name="A notificação pode se repetir. O banco preserva o estad">
            <a:extLst xmlns:a="http://schemas.openxmlformats.org/drawingml/2006/main">
              <a:ext uri="{FF2B5EF4-FFF2-40B4-BE49-F238E27FC236}">
                <a16:creationId xmlns:a16="http://schemas.microsoft.com/office/drawing/2014/main" id="{DAA8ADF2-6BBD-4B9C-B75A-8364A41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A notificação pode se repetir. O banco preserva o estado.</a:t>
            </a:r>
          </a:p>
        </p:txBody>
      </p:sp>
    </p:spTree>
    <p:extLst>
      <p:ext uri="{BB962C8B-B14F-4D97-AF65-F5344CB8AC3E}">
        <p14:creationId xmlns:p14="http://schemas.microsoft.com/office/powerpoint/2010/main" val="797125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alha do broker e reconexão">
            <a:extLst xmlns:a="http://schemas.openxmlformats.org/drawingml/2006/main">
              <a:ext uri="{FF2B5EF4-FFF2-40B4-BE49-F238E27FC236}">
                <a16:creationId xmlns:a16="http://schemas.microsoft.com/office/drawing/2014/main" id="{24AFFA8C-98E9-4A3D-B094-3EE0F1E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Falha do broker e reconexão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D25C4553-B1E3-4A4C-B4BC-A85CAF70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oteiro para o laboratório local">
            <a:extLst xmlns:a="http://schemas.openxmlformats.org/drawingml/2006/main">
              <a:ext uri="{FF2B5EF4-FFF2-40B4-BE49-F238E27FC236}">
                <a16:creationId xmlns:a16="http://schemas.microsoft.com/office/drawing/2014/main" id="{4D708320-833D-4917-8197-50C5C05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Roteiro para o laboratório local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9C0DA743-047F-4205-8395-953F46AF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arar o broker">
            <a:extLst xmlns:a="http://schemas.openxmlformats.org/drawingml/2006/main">
              <a:ext uri="{FF2B5EF4-FFF2-40B4-BE49-F238E27FC236}">
                <a16:creationId xmlns:a16="http://schemas.microsoft.com/office/drawing/2014/main" id="{A1787E07-67E6-41EB-867B-0287785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71700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Parar o broker</a:t>
            </a:r>
          </a:p>
        </p:txBody>
      </p:sp>
      <p:sp>
        <p:nvSpPr>
          <p:cNvPr id="6" name="O relato continua no banco com evento pendente.">
            <a:extLst xmlns:a="http://schemas.openxmlformats.org/drawingml/2006/main">
              <a:ext uri="{FF2B5EF4-FFF2-40B4-BE49-F238E27FC236}">
                <a16:creationId xmlns:a16="http://schemas.microsoft.com/office/drawing/2014/main" id="{46A5CB53-B41D-4722-89F3-D1FE7D65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28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O relato continua no banco com evento pendente.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1EAB0722-35E0-4E7D-9C1D-4967720C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stabelecer o broker">
            <a:extLst xmlns:a="http://schemas.openxmlformats.org/drawingml/2006/main">
              <a:ext uri="{FF2B5EF4-FFF2-40B4-BE49-F238E27FC236}">
                <a16:creationId xmlns:a16="http://schemas.microsoft.com/office/drawing/2014/main" id="{A4BDCC5E-B9A7-477A-A794-36FB6047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Restabelecer o broker</a:t>
            </a:r>
          </a:p>
        </p:txBody>
      </p:sp>
      <p:sp>
        <p:nvSpPr>
          <p:cNvPr id="9" name="O worker retoma a publicação pendente.">
            <a:extLst xmlns:a="http://schemas.openxmlformats.org/drawingml/2006/main">
              <a:ext uri="{FF2B5EF4-FFF2-40B4-BE49-F238E27FC236}">
                <a16:creationId xmlns:a16="http://schemas.microsoft.com/office/drawing/2014/main" id="{EE5C1B67-FE80-40B4-9373-CD348B7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90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O worker retoma a publicação pendente.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E239E71C-354C-40DE-AC3C-53BB1C6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onectar o aplicativo">
            <a:extLst xmlns:a="http://schemas.openxmlformats.org/drawingml/2006/main">
              <a:ext uri="{FF2B5EF4-FFF2-40B4-BE49-F238E27FC236}">
                <a16:creationId xmlns:a16="http://schemas.microsoft.com/office/drawing/2014/main" id="{207E2FD5-524B-419A-BEBA-57FE2B5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Reconectar o aplicativo</a:t>
            </a:r>
          </a:p>
        </p:txBody>
      </p:sp>
      <p:sp>
        <p:nvSpPr>
          <p:cNvPr id="12" name="O cliente consulta novamente o estado atual.">
            <a:extLst xmlns:a="http://schemas.openxmlformats.org/drawingml/2006/main">
              <a:ext uri="{FF2B5EF4-FFF2-40B4-BE49-F238E27FC236}">
                <a16:creationId xmlns:a16="http://schemas.microsoft.com/office/drawing/2014/main" id="{6097BEC6-DB4C-46D7-B071-ED84CE4A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O cliente consulta novamente o estado atual.</a:t>
            </a:r>
          </a:p>
        </p:txBody>
      </p:sp>
      <p:sp>
        <p:nvSpPr>
          <p:cNvPr id="13" name="Dois clientes: portas 4310 e 4311. Preserve os volumes ">
            <a:extLst xmlns:a="http://schemas.openxmlformats.org/drawingml/2006/main">
              <a:ext uri="{FF2B5EF4-FFF2-40B4-BE49-F238E27FC236}">
                <a16:creationId xmlns:a16="http://schemas.microsoft.com/office/drawing/2014/main" id="{8C219C67-AD9A-42D9-9268-D3A8497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Dois clientes: portas 4310 e 4311. Preserve os volumes durante o experimento.</a:t>
            </a:r>
          </a:p>
        </p:txBody>
      </p:sp>
    </p:spTree>
    <p:extLst>
      <p:ext uri="{BB962C8B-B14F-4D97-AF65-F5344CB8AC3E}">
        <p14:creationId xmlns:p14="http://schemas.microsoft.com/office/powerpoint/2010/main" val="1627190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stidores e evidências reais">
            <a:extLst xmlns:a="http://schemas.openxmlformats.org/drawingml/2006/main">
              <a:ext uri="{FF2B5EF4-FFF2-40B4-BE49-F238E27FC236}">
                <a16:creationId xmlns:a16="http://schemas.microsoft.com/office/drawing/2014/main" id="{96010717-9486-4653-949D-B3262CA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Bastidores e evidências reais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F48DC1F-8B8C-4DFD-8DDF-F37FEC50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Consulta à VPS em 29/10/2026, 01:59:45 (Brasília)">
            <a:extLst xmlns:a="http://schemas.openxmlformats.org/drawingml/2006/main">
              <a:ext uri="{FF2B5EF4-FFF2-40B4-BE49-F238E27FC236}">
                <a16:creationId xmlns:a16="http://schemas.microsoft.com/office/drawing/2014/main" id="{B5907373-4DF6-4570-8838-7B2AB69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Consulta à VPS em 29/10/2026, 01:59:45 (Brasília)</a:t>
            </a:r>
          </a:p>
        </p:txBody>
      </p:sp>
      <p:sp>
        <p:nvSpPr>
          <p:cNvPr id="4" name="API 1 e API 2">
            <a:extLst xmlns:a="http://schemas.openxmlformats.org/drawingml/2006/main">
              <a:ext uri="{FF2B5EF4-FFF2-40B4-BE49-F238E27FC236}">
                <a16:creationId xmlns:a16="http://schemas.microsoft.com/office/drawing/2014/main" id="{A1380EF9-DE36-4450-BCE8-142DD1B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API 1 e API 2</a:t>
            </a:r>
          </a:p>
        </p:txBody>
      </p:sp>
      <p:sp>
        <p:nvSpPr>
          <p:cNvPr id="5" name="sinais de vida ativos">
            <a:extLst xmlns:a="http://schemas.openxmlformats.org/drawingml/2006/main">
              <a:ext uri="{FF2B5EF4-FFF2-40B4-BE49-F238E27FC236}">
                <a16:creationId xmlns:a16="http://schemas.microsoft.com/office/drawing/2014/main" id="{680D2FFC-EDC5-4503-9E41-2B9A354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sinais de vida ativos</a:t>
            </a:r>
          </a:p>
        </p:txBody>
      </p:sp>
      <p:sp>
        <p:nvSpPr>
          <p:cNvPr id="6" name="Worker e coletor">
            <a:extLst xmlns:a="http://schemas.openxmlformats.org/drawingml/2006/main">
              <a:ext uri="{FF2B5EF4-FFF2-40B4-BE49-F238E27FC236}">
                <a16:creationId xmlns:a16="http://schemas.microsoft.com/office/drawing/2014/main" id="{E325C574-AD7B-466A-88EF-7AFFA03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Worker e coletor</a:t>
            </a:r>
          </a:p>
        </p:txBody>
      </p:sp>
      <p:sp>
        <p:nvSpPr>
          <p:cNvPr id="7" name="ativos, com coleta em modo oficial">
            <a:extLst xmlns:a="http://schemas.openxmlformats.org/drawingml/2006/main">
              <a:ext uri="{FF2B5EF4-FFF2-40B4-BE49-F238E27FC236}">
                <a16:creationId xmlns:a16="http://schemas.microsoft.com/office/drawing/2014/main" id="{40833712-6FF7-4F56-9192-B6802A5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ativos, com coleta em modo oficial</a:t>
            </a:r>
          </a:p>
        </p:txBody>
      </p:sp>
      <p:sp>
        <p:nvSpPr>
          <p:cNvPr id="8" name="Banco e broker">
            <a:extLst xmlns:a="http://schemas.openxmlformats.org/drawingml/2006/main">
              <a:ext uri="{FF2B5EF4-FFF2-40B4-BE49-F238E27FC236}">
                <a16:creationId xmlns:a16="http://schemas.microsoft.com/office/drawing/2014/main" id="{D190660A-D0B5-476F-B144-7D65198A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Banco e broker</a:t>
            </a:r>
          </a:p>
        </p:txBody>
      </p:sp>
      <p:sp>
        <p:nvSpPr>
          <p:cNvPr id="9" name="disponíveis, sem pendências na outbox">
            <a:extLst xmlns:a="http://schemas.openxmlformats.org/drawingml/2006/main">
              <a:ext uri="{FF2B5EF4-FFF2-40B4-BE49-F238E27FC236}">
                <a16:creationId xmlns:a16="http://schemas.microsoft.com/office/drawing/2014/main" id="{BFE075C7-D821-462F-8676-8B406D3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disponíveis, sem pendências na outbox</a:t>
            </a:r>
          </a:p>
        </p:txBody>
      </p:sp>
      <p:sp>
        <p:nvSpPr>
          <p:cNvPr id="10" name="Evento crossing.updated">
            <a:extLst xmlns:a="http://schemas.openxmlformats.org/drawingml/2006/main">
              <a:ext uri="{FF2B5EF4-FFF2-40B4-BE49-F238E27FC236}">
                <a16:creationId xmlns:a16="http://schemas.microsoft.com/office/drawing/2014/main" id="{7756276F-4CAE-4EA7-9B74-B08A0C1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Evento crossing.updated</a:t>
            </a:r>
          </a:p>
        </p:txBody>
      </p:sp>
      <p:sp>
        <p:nvSpPr>
          <p:cNvPr id="11" name="Criação       01:59:26.349&#10;Publicação  01:59:26.437&#10;API">
            <a:extLst xmlns:a="http://schemas.openxmlformats.org/drawingml/2006/main">
              <a:ext uri="{FF2B5EF4-FFF2-40B4-BE49-F238E27FC236}">
                <a16:creationId xmlns:a16="http://schemas.microsoft.com/office/drawing/2014/main" id="{C054062F-A5EB-4D2C-BA01-1AA2C6FC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8006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Criação       01:59:26.349</a:t>
            </a:r>
          </a:p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Publicação  01:59:26.437</a:t>
            </a:r>
          </a:p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API 2           01:59:26.439</a:t>
            </a:r>
          </a:p>
          <a:p xmlns:a="http://schemas.openxmlformats.org/drawingml/2006/main">
            <a:pPr algn="l">
              <a:defRPr sz="18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API 1           01:59:26.441</a:t>
            </a:r>
          </a:p>
        </p:txBody>
      </p:sp>
      <p:sp>
        <p:nvSpPr>
          <p:cNvPr id="12" name="O registro mostra entrega às réplicas.&#10;Havia 0 clientes">
            <a:extLst xmlns:a="http://schemas.openxmlformats.org/drawingml/2006/main">
              <a:ext uri="{FF2B5EF4-FFF2-40B4-BE49-F238E27FC236}">
                <a16:creationId xmlns:a16="http://schemas.microsoft.com/office/drawing/2014/main" id="{162DF450-FD5A-444A-9ED6-EA52BDA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O registro mostra entrega às réplicas.</a:t>
            </a:r>
          </a:p>
          <a:p xmlns:a="http://schemas.openxmlformats.org/drawingml/2006/main">
            <a:pPr algn="l">
              <a:defRPr sz="1650" b="0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364F"/>
                </a:solidFill>
                <a:latin typeface="Arial"/>
                <a:ea typeface="Arial"/>
                <a:cs typeface="Arial"/>
              </a:rPr>
              <a:t>Havia 0 clientes nesse evento.</a:t>
            </a:r>
          </a:p>
        </p:txBody>
      </p:sp>
      <p:sp>
        <p:nvSpPr>
          <p:cNvPr id="13" name="Valores representam aquele instante. /v1/system permite">
            <a:extLst xmlns:a="http://schemas.openxmlformats.org/drawingml/2006/main">
              <a:ext uri="{FF2B5EF4-FFF2-40B4-BE49-F238E27FC236}">
                <a16:creationId xmlns:a16="http://schemas.microsoft.com/office/drawing/2014/main" id="{80EA1A6B-8658-49A4-A60F-2087150F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Valores representam aquele instante. /v1/system permite conferir o estado atual.</a:t>
            </a:r>
          </a:p>
        </p:txBody>
      </p:sp>
    </p:spTree>
    <p:extLst>
      <p:ext uri="{BB962C8B-B14F-4D97-AF65-F5344CB8AC3E}">
        <p14:creationId xmlns:p14="http://schemas.microsoft.com/office/powerpoint/2010/main" val="1503730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alidação técnica">
            <a:extLst xmlns:a="http://schemas.openxmlformats.org/drawingml/2006/main">
              <a:ext uri="{FF2B5EF4-FFF2-40B4-BE49-F238E27FC236}">
                <a16:creationId xmlns:a16="http://schemas.microsoft.com/office/drawing/2014/main" id="{E35F3062-B8D1-47B8-B75C-6C53387F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Validação técnica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9B8730C-D2A3-498C-A1A5-C7A13891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CAB541F-1CF0-4C4C-A8BE-33D9E3DD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testes do backend">
            <a:extLst xmlns:a="http://schemas.openxmlformats.org/drawingml/2006/main">
              <a:ext uri="{FF2B5EF4-FFF2-40B4-BE49-F238E27FC236}">
                <a16:creationId xmlns:a16="http://schemas.microsoft.com/office/drawing/2014/main" id="{3B92B6F9-D825-4D06-94AA-1558226C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testes do backend</a:t>
            </a:r>
          </a:p>
        </p:txBody>
      </p:sp>
      <p:sp>
        <p:nvSpPr>
          <p:cNvPr id="5" name="PostgreSQL e RabbitMQ reais&#10;em ambiente isolado">
            <a:extLst xmlns:a="http://schemas.openxmlformats.org/drawingml/2006/main">
              <a:ext uri="{FF2B5EF4-FFF2-40B4-BE49-F238E27FC236}">
                <a16:creationId xmlns:a16="http://schemas.microsoft.com/office/drawing/2014/main" id="{67EE287D-9098-4D04-BA3D-0362748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1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PostgreSQL e RabbitMQ reais</a:t>
            </a:r>
          </a:p>
          <a:p xmlns:a="http://schemas.openxmlformats.org/drawingml/2006/main">
            <a: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em ambiente isolado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B4A51526-8154-415E-81B9-0F23498B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testes Android">
            <a:extLst xmlns:a="http://schemas.openxmlformats.org/drawingml/2006/main">
              <a:ext uri="{FF2B5EF4-FFF2-40B4-BE49-F238E27FC236}">
                <a16:creationId xmlns:a16="http://schemas.microsoft.com/office/drawing/2014/main" id="{5696F1FD-DA89-40E7-92EF-989FFF91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testes Android</a:t>
            </a:r>
          </a:p>
        </p:txBody>
      </p:sp>
      <p:sp>
        <p:nvSpPr>
          <p:cNvPr id="8" name="Build concluído&#10;Lint sem erros">
            <a:extLst xmlns:a="http://schemas.openxmlformats.org/drawingml/2006/main">
              <a:ext uri="{FF2B5EF4-FFF2-40B4-BE49-F238E27FC236}">
                <a16:creationId xmlns:a16="http://schemas.microsoft.com/office/drawing/2014/main" id="{498A9670-953C-41ED-BA5E-46A78D0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Build concluído</a:t>
            </a:r>
          </a:p>
          <a:p xmlns:a="http://schemas.openxmlformats.org/drawingml/2006/main">
            <a:pPr algn="l">
              <a:defRPr sz="20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Lint sem erros</a:t>
            </a:r>
          </a:p>
        </p:txBody>
      </p:sp>
      <p:sp>
        <p:nvSpPr>
          <p:cNvPr id="9" name="Todos passaram na execução registrada em 29/10/2026">
            <a:extLst xmlns:a="http://schemas.openxmlformats.org/drawingml/2006/main">
              <a:ext uri="{FF2B5EF4-FFF2-40B4-BE49-F238E27FC236}">
                <a16:creationId xmlns:a16="http://schemas.microsoft.com/office/drawing/2014/main" id="{583957F1-2A95-4322-8791-3FE9853B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Todos passaram na execução registrada em 29/10/2026</a:t>
            </a:r>
          </a:p>
        </p:txBody>
      </p:sp>
    </p:spTree>
    <p:extLst>
      <p:ext uri="{BB962C8B-B14F-4D97-AF65-F5344CB8AC3E}">
        <p14:creationId xmlns:p14="http://schemas.microsoft.com/office/powerpoint/2010/main" val="1074776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imites do projeto">
            <a:extLst xmlns:a="http://schemas.openxmlformats.org/drawingml/2006/main">
              <a:ext uri="{FF2B5EF4-FFF2-40B4-BE49-F238E27FC236}">
                <a16:creationId xmlns:a16="http://schemas.microsoft.com/office/drawing/2014/main" id="{EFC94107-0A69-4DBE-9BFE-2DE81D2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Limites do projeto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5B03A36-5DDE-4126-87BD-03992880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Infraestrutura">
            <a:extLst xmlns:a="http://schemas.openxmlformats.org/drawingml/2006/main">
              <a:ext uri="{FF2B5EF4-FFF2-40B4-BE49-F238E27FC236}">
                <a16:creationId xmlns:a16="http://schemas.microsoft.com/office/drawing/2014/main" id="{C95E3190-6740-4ED0-AC57-B14A6B01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Infraestrutura</a:t>
            </a:r>
          </a:p>
        </p:txBody>
      </p:sp>
      <p:sp>
        <p:nvSpPr>
          <p:cNvPr id="4" name="Uma VPS concentra todos os serviços.">
            <a:extLst xmlns:a="http://schemas.openxmlformats.org/drawingml/2006/main">
              <a:ext uri="{FF2B5EF4-FFF2-40B4-BE49-F238E27FC236}">
                <a16:creationId xmlns:a16="http://schemas.microsoft.com/office/drawing/2014/main" id="{ECC7CE5E-E743-4CD5-951D-4182D6BB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Uma VPS concentra todos os serviços.</a:t>
            </a:r>
          </a:p>
        </p:txBody>
      </p:sp>
      <p:sp>
        <p:nvSpPr>
          <p:cNvPr id="5" name="Fonte externa">
            <a:extLst xmlns:a="http://schemas.openxmlformats.org/drawingml/2006/main">
              <a:ext uri="{FF2B5EF4-FFF2-40B4-BE49-F238E27FC236}">
                <a16:creationId xmlns:a16="http://schemas.microsoft.com/office/drawing/2014/main" id="{9CAD1EFC-F980-476C-88F7-7B69E59F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Fonte externa</a:t>
            </a:r>
          </a:p>
        </p:txBody>
      </p:sp>
      <p:sp>
        <p:nvSpPr>
          <p:cNvPr id="6" name="O painel pode mudar ou ficar indisponível.">
            <a:extLst xmlns:a="http://schemas.openxmlformats.org/drawingml/2006/main">
              <a:ext uri="{FF2B5EF4-FFF2-40B4-BE49-F238E27FC236}">
                <a16:creationId xmlns:a16="http://schemas.microsoft.com/office/drawing/2014/main" id="{34D8B2E5-3761-43D2-B23D-1A84244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O painel pode mudar ou ficar indisponível.</a:t>
            </a:r>
          </a:p>
        </p:txBody>
      </p:sp>
      <p:sp>
        <p:nvSpPr>
          <p:cNvPr id="7" name="Impacto">
            <a:extLst xmlns:a="http://schemas.openxmlformats.org/drawingml/2006/main">
              <a:ext uri="{FF2B5EF4-FFF2-40B4-BE49-F238E27FC236}">
                <a16:creationId xmlns:a16="http://schemas.microsoft.com/office/drawing/2014/main" id="{81F43703-660E-4D95-AA44-1F60BC1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8" name="Sem medição de redução de filas ou emissões.">
            <a:extLst xmlns:a="http://schemas.openxmlformats.org/drawingml/2006/main">
              <a:ext uri="{FF2B5EF4-FFF2-40B4-BE49-F238E27FC236}">
                <a16:creationId xmlns:a16="http://schemas.microsoft.com/office/drawing/2014/main" id="{2C19DB40-939A-43B5-A460-CB1E626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Sem medição de redução de filas ou emissões.</a:t>
            </a:r>
          </a:p>
        </p:txBody>
      </p:sp>
      <p:sp>
        <p:nvSpPr>
          <p:cNvPr id="9" name="Avisos">
            <a:extLst xmlns:a="http://schemas.openxmlformats.org/drawingml/2006/main">
              <a:ext uri="{FF2B5EF4-FFF2-40B4-BE49-F238E27FC236}">
                <a16:creationId xmlns:a16="http://schemas.microsoft.com/office/drawing/2014/main" id="{84066341-420A-4BB8-BDA7-74DCB093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Avisos</a:t>
            </a:r>
          </a:p>
        </p:txBody>
      </p:sp>
      <p:sp>
        <p:nvSpPr>
          <p:cNvPr id="10" name="Dependem do app aberto ou recente em segundo plano.">
            <a:extLst xmlns:a="http://schemas.openxmlformats.org/drawingml/2006/main">
              <a:ext uri="{FF2B5EF4-FFF2-40B4-BE49-F238E27FC236}">
                <a16:creationId xmlns:a16="http://schemas.microsoft.com/office/drawing/2014/main" id="{CCA12ED7-2624-4D30-9979-BA0EDD31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Dependem do app aberto ou recente em segundo plano.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6512A-D621-4B28-B1F3-5644610D6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5af75199f490e"/>
          <a:stretch xmlns:a="http://schemas.openxmlformats.org/drawingml/2006/main"/>
        </p:blipFill>
        <p:spPr>
          <a:xfrm xmlns:a="http://schemas.openxmlformats.org/drawingml/2006/main">
            <a:off x="8496300" y="1381125"/>
            <a:ext cx="2238375" cy="4476750"/>
          </a:xfrm>
          <a:prstGeom xmlns:a="http://schemas.openxmlformats.org/drawingml/2006/main" prst="rect">
            <a:avLst/>
          </a:prstGeom>
        </p:spPr>
      </p:pic>
      <p:sp>
        <p:nvSpPr>
          <p:cNvPr id="12" name="Captura da versão anterior&#10;Histórico com dados simulado">
            <a:extLst xmlns:a="http://schemas.openxmlformats.org/drawingml/2006/main">
              <a:ext uri="{FF2B5EF4-FFF2-40B4-BE49-F238E27FC236}">
                <a16:creationId xmlns:a16="http://schemas.microsoft.com/office/drawing/2014/main" id="{6AFECFEC-5B45-4194-99D8-54252C97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943600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Captura da versão anterior</a:t>
            </a:r>
          </a:p>
          <a:p xmlns:a="http://schemas.openxmlformats.org/drawingml/2006/main">
            <a:pPr algn="ctr">
              <a:defRPr sz="1425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Histórico com dados simulados</a:t>
            </a:r>
          </a:p>
        </p:txBody>
      </p:sp>
    </p:spTree>
    <p:extLst>
      <p:ext uri="{BB962C8B-B14F-4D97-AF65-F5344CB8AC3E}">
        <p14:creationId xmlns:p14="http://schemas.microsoft.com/office/powerpoint/2010/main" val="9395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monstração e acesso">
            <a:extLst xmlns:a="http://schemas.openxmlformats.org/drawingml/2006/main">
              <a:ext uri="{FF2B5EF4-FFF2-40B4-BE49-F238E27FC236}">
                <a16:creationId xmlns:a16="http://schemas.microsoft.com/office/drawing/2014/main" id="{A753291C-4676-4662-B9FE-C104E2B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Demonstração e acesso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23A13A74-843B-4E08-9CDB-C7EB60CC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ravessias, Relatos e Bastidores">
            <a:extLst xmlns:a="http://schemas.openxmlformats.org/drawingml/2006/main">
              <a:ext uri="{FF2B5EF4-FFF2-40B4-BE49-F238E27FC236}">
                <a16:creationId xmlns:a16="http://schemas.microsoft.com/office/drawing/2014/main" id="{ABA23688-82F7-4D3A-858C-BD4ED6A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Travessias, Relatos e Bastidores</a:t>
            </a:r>
          </a:p>
        </p:txBody>
      </p:sp>
      <p:sp>
        <p:nvSpPr>
          <p:cNvPr id="4" name="No laboratório local: dois clientes, evento, falha e re">
            <a:extLst xmlns:a="http://schemas.openxmlformats.org/drawingml/2006/main">
              <a:ext uri="{FF2B5EF4-FFF2-40B4-BE49-F238E27FC236}">
                <a16:creationId xmlns:a16="http://schemas.microsoft.com/office/drawing/2014/main" id="{62B612D9-00F6-46B5-A91A-DC28919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No laboratório local: dois clientes, evento, falha e recuperação</a:t>
            </a:r>
          </a:p>
        </p:txBody>
      </p:sp>
      <p:sp>
        <p:nvSpPr>
          <p:cNvPr id="5" name="APK Android">
            <a:extLst xmlns:a="http://schemas.openxmlformats.org/drawingml/2006/main">
              <a:ext uri="{FF2B5EF4-FFF2-40B4-BE49-F238E27FC236}">
                <a16:creationId xmlns:a16="http://schemas.microsoft.com/office/drawing/2014/main" id="{8D584E6C-DEF1-4A91-B7CB-A02E35A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  <a:hlinkClick xmlns:r="http://schemas.openxmlformats.org/officeDocument/2006/relationships" r:id="R4ea8cf29d29c4558"/>
              </a:rPr>
              <a:t>APK Android</a:t>
            </a:r>
          </a:p>
        </p:txBody>
      </p:sp>
      <p:sp>
        <p:nvSpPr>
          <p:cNvPr id="6" name="sedda.com.br/downloads/ViaAgora.apk">
            <a:extLst xmlns:a="http://schemas.openxmlformats.org/drawingml/2006/main">
              <a:ext uri="{FF2B5EF4-FFF2-40B4-BE49-F238E27FC236}">
                <a16:creationId xmlns:a16="http://schemas.microsoft.com/office/drawing/2014/main" id="{0F7FE220-8901-4D70-9153-BC5A9C8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67125"/>
            <a:ext cx="668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sedda.com.br/downloads/ViaAgora.apk</a:t>
            </a:r>
          </a:p>
        </p:txBody>
      </p:sp>
      <p:sp>
        <p:nvSpPr>
          <p:cNvPr id="7" name="Site da apresentação">
            <a:extLst xmlns:a="http://schemas.openxmlformats.org/drawingml/2006/main">
              <a:ext uri="{FF2B5EF4-FFF2-40B4-BE49-F238E27FC236}">
                <a16:creationId xmlns:a16="http://schemas.microsoft.com/office/drawing/2014/main" id="{DBB0E6AC-E343-4BB0-A558-AD86C366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  <a:hlinkClick xmlns:r="http://schemas.openxmlformats.org/officeDocument/2006/relationships" r:id="R113b9721e88c427d"/>
              </a:rPr>
              <a:t>Site da apresentação</a:t>
            </a:r>
          </a:p>
        </p:txBody>
      </p:sp>
      <p:sp>
        <p:nvSpPr>
          <p:cNvPr id="8" name="sedda.com.br/?aps=1">
            <a:extLst xmlns:a="http://schemas.openxmlformats.org/drawingml/2006/main">
              <a:ext uri="{FF2B5EF4-FFF2-40B4-BE49-F238E27FC236}">
                <a16:creationId xmlns:a16="http://schemas.microsoft.com/office/drawing/2014/main" id="{BD9BC88F-9A51-4C9C-B498-F44D5E2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71975"/>
            <a:ext cx="668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sedda.com.br/?aps=1</a:t>
            </a:r>
          </a:p>
        </p:txBody>
      </p:sp>
      <p:sp>
        <p:nvSpPr>
          <p:cNvPr id="9" name="Código e documentação">
            <a:extLst xmlns:a="http://schemas.openxmlformats.org/drawingml/2006/main">
              <a:ext uri="{FF2B5EF4-FFF2-40B4-BE49-F238E27FC236}">
                <a16:creationId xmlns:a16="http://schemas.microsoft.com/office/drawing/2014/main" id="{E005DF66-838F-4FAC-AF1D-566E7CD4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  <a:hlinkClick xmlns:r="http://schemas.openxmlformats.org/officeDocument/2006/relationships" r:id="R1f16d46038ed4968"/>
              </a:rPr>
              <a:t>Código e documentação</a:t>
            </a:r>
          </a:p>
        </p:txBody>
      </p:sp>
      <p:sp>
        <p:nvSpPr>
          <p:cNvPr id="10" name="github.com/Bruno70i/APS---8-SEMESTRE">
            <a:extLst xmlns:a="http://schemas.openxmlformats.org/drawingml/2006/main">
              <a:ext uri="{FF2B5EF4-FFF2-40B4-BE49-F238E27FC236}">
                <a16:creationId xmlns:a16="http://schemas.microsoft.com/office/drawing/2014/main" id="{FBF7A9D1-1D12-4DA1-8FED-98E2DDB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76825"/>
            <a:ext cx="668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D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6D7A"/>
                </a:solidFill>
                <a:latin typeface="Arial"/>
                <a:ea typeface="Arial"/>
                <a:cs typeface="Arial"/>
              </a:rPr>
              <a:t>github.com/Bruno70i/APS---8-SEMESTRE</a:t>
            </a:r>
          </a:p>
        </p:txBody>
      </p:sp>
      <p:sp>
        <p:nvSpPr>
          <p:cNvPr id="11" name="Obrigado">
            <a:extLst xmlns:a="http://schemas.openxmlformats.org/drawingml/2006/main">
              <a:ext uri="{FF2B5EF4-FFF2-40B4-BE49-F238E27FC236}">
                <a16:creationId xmlns:a16="http://schemas.microsoft.com/office/drawing/2014/main" id="{BA8111CE-C783-49C1-A5C1-7E0C5A3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364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64F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13069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2026-10-29T05:03:56.5320000Z</dcterms:created>
  <dcterms:modified xsi:type="dcterms:W3CDTF">2026-10-29T05:03:56.5320000Z</dcterms:modified>
</coreProperties>
</file>